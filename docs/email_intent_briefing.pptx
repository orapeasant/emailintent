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0" y="0"/>
            <a:ext cx="4965192" cy="6858000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25880"/>
            <a:ext cx="6126480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576CBC"/>
                </a:solidFill>
              </a:rPr>
              <a:t>DECISION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03320"/>
            <a:ext cx="612648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Automating triage of ~10,000 procurement emails per month across shared supplier inboxes.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8932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00" b="0">
                <a:solidFill>
                  <a:srgbClr val="5A6472"/>
                </a:solidFill>
              </a:rPr>
              <a:t>Prepared by Data &amp; ML Engineering  ·  September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2057400"/>
            <a:ext cx="384048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057400"/>
            <a:ext cx="3840480" cy="45720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0" y="2057400"/>
            <a:ext cx="3840480" cy="45720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50" b="1">
                <a:solidFill>
                  <a:srgbClr val="FFFFFF"/>
                </a:solidFill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697480"/>
            <a:ext cx="3383280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000" b="1">
                <a:solidFill>
                  <a:srgbClr val="0B2447"/>
                </a:solidFill>
              </a:rPr>
              <a:t>Build our own model —</a:t>
            </a:r>
          </a:p>
          <a:p>
            <a:pPr algn="l"/>
            <a:r>
              <a:rPr sz="2000" b="1">
                <a:solidFill>
                  <a:srgbClr val="0B2447"/>
                </a:solidFill>
              </a:rPr>
              <a:t>using a paid LLM as a</a:t>
            </a:r>
          </a:p>
          <a:p>
            <a:pPr algn="l"/>
            <a:r>
              <a:rPr sz="2000" b="1">
                <a:solidFill>
                  <a:srgbClr val="0B2447"/>
                </a:solidFill>
              </a:rPr>
              <a:t>one-time teacher, not as</a:t>
            </a:r>
          </a:p>
          <a:p>
            <a:pPr algn="l"/>
            <a:r>
              <a:rPr sz="2000" b="1">
                <a:solidFill>
                  <a:srgbClr val="0B2447"/>
                </a:solidFill>
              </a:rPr>
              <a:t>the runtime engine.</a:t>
            </a:r>
          </a:p>
          <a:p>
            <a:pPr algn="l"/>
            <a:r>
              <a:rPr sz="8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E7A46"/>
                </a:solidFill>
              </a:rPr>
              <a:t>Already validated on 4,499 real emails.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1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1664208"/>
            <a:ext cx="6217920" cy="1828800"/>
          </a:xfrm>
        </p:spPr>
        <p:txBody>
          <a:bodyPr wrap="square" anchor="ctr" lIns="0" rIns="0" tIns="27432" bIns="27432"/>
          <a:lstStyle/>
          <a:p>
            <a:pPr algn="l"/>
            <a:r>
              <a:rPr sz="4000" b="1">
                <a:solidFill>
                  <a:srgbClr val="FFFFFF"/>
                </a:solidFill>
              </a:rPr>
              <a:t>Email Intent Classification</a:t>
            </a:r>
          </a:p>
          <a:p>
            <a:pPr algn="l"/>
            <a:r>
              <a:rPr sz="2300" b="0">
                <a:solidFill>
                  <a:srgbClr val="A5D7E8"/>
                </a:solidFill>
              </a:rPr>
              <a:t>Build our own model, or rent an LLM API?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Shared procurement inboxes are triaged by hand. Every email is read by a person before anything happens.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74320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691640"/>
            <a:ext cx="42062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59" y="1691640"/>
            <a:ext cx="42062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With intent classification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9397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Triage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209397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Analyst reads every email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59" y="2093976"/>
            <a:ext cx="4206240" cy="47548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Auto-classified on arrival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9464"/>
            <a:ext cx="274320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Routing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569464"/>
            <a:ext cx="420624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Manual forward to the right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59" y="2569464"/>
            <a:ext cx="4206240" cy="47548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Routed by intent, automatically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4495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Prioritisation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044952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First-in, first-out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59" y="3044952"/>
            <a:ext cx="4206240" cy="47548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Urgent and high-value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520440"/>
            <a:ext cx="274320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Downstream systems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3520440"/>
            <a:ext cx="420624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Re-keyed into SAP by hand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59" y="3520440"/>
            <a:ext cx="4206240" cy="47548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Structured trigger for SAP actions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9592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Volume handled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3995928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~500/day, people-limited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59" y="3995928"/>
            <a:ext cx="4206240" cy="47548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~500/day, no added headcount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892040"/>
            <a:ext cx="3611880" cy="1417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892040"/>
            <a:ext cx="54864" cy="1417320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001768"/>
            <a:ext cx="3264408" cy="11978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Scale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~10,000 emails / month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~400–500 per day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Multiple shared inboxes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15968" y="4892040"/>
            <a:ext cx="3611880" cy="1417320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15968" y="4892040"/>
            <a:ext cx="54864" cy="1417320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5001768"/>
            <a:ext cx="3264408" cy="11978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Content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Supplier bank details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Contract pricing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Invoices, POs, disputes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29016" y="4892040"/>
            <a:ext cx="3557016" cy="1417320"/>
          </a:xfrm>
          <a:prstGeom prst="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29016" y="4892040"/>
            <a:ext cx="54864" cy="14173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0184" y="5001768"/>
            <a:ext cx="3209544" cy="11978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Implication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Highly sensitive data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Financial consequences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Auditability is mandatory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2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problem we are solving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All four were evaluated. The real choice is between C and D — a model we own, or a service we rent.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6517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324612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What it 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91640"/>
            <a:ext cx="17373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91640"/>
            <a:ext cx="182880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Cost /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66960" y="1691640"/>
            <a:ext cx="16916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Data leaves us?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93976"/>
            <a:ext cx="2651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A. Keyword / TF-IDF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2093976"/>
            <a:ext cx="32461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Hand-written rules and word counts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093976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093976"/>
            <a:ext cx="1828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~$0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0" y="2093976"/>
            <a:ext cx="1691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4328"/>
            <a:ext cx="2651760" cy="53035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B. Embeddings +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2624328"/>
            <a:ext cx="3246120" cy="53035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Frozen embeddings, small classifier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624328"/>
            <a:ext cx="1737360" cy="53035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Medium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624328"/>
            <a:ext cx="1828800" cy="53035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2624328"/>
            <a:ext cx="1691640" cy="53035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154680"/>
            <a:ext cx="2651760" cy="53035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C. Fine-tuned ModernBERT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3154680"/>
            <a:ext cx="3246120" cy="53035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Our own model, trained on our mail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154680"/>
            <a:ext cx="1737360" cy="53035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High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154680"/>
            <a:ext cx="1828800" cy="53035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Fixed, ~$0 marginal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3154680"/>
            <a:ext cx="1691640" cy="53035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85032"/>
            <a:ext cx="2651760" cy="530352"/>
          </a:xfrm>
          <a:prstGeom prst="rect">
            <a:avLst/>
          </a:prstGeom>
          <a:solidFill>
            <a:srgbClr val="FFF4D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D. Paid LLM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685032"/>
            <a:ext cx="3246120" cy="530352"/>
          </a:xfrm>
          <a:prstGeom prst="rect">
            <a:avLst/>
          </a:prstGeom>
          <a:solidFill>
            <a:srgbClr val="FFF4D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Commercial LLM called per email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685032"/>
            <a:ext cx="1737360" cy="530352"/>
          </a:xfrm>
          <a:prstGeom prst="rect">
            <a:avLst/>
          </a:prstGeom>
          <a:solidFill>
            <a:srgbClr val="FFF4D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High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685032"/>
            <a:ext cx="1828800" cy="530352"/>
          </a:xfrm>
          <a:prstGeom prst="rect">
            <a:avLst/>
          </a:prstGeom>
          <a:solidFill>
            <a:srgbClr val="FFF4D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Grows with volume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685032"/>
            <a:ext cx="1691640" cy="530352"/>
          </a:xfrm>
          <a:prstGeom prst="rect">
            <a:avLst/>
          </a:prstGeom>
          <a:solidFill>
            <a:srgbClr val="FFF4D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279392"/>
            <a:ext cx="5532120" cy="201168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279392"/>
            <a:ext cx="54864" cy="2011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407408"/>
            <a:ext cx="5120640" cy="175564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800" b="1">
                <a:solidFill>
                  <a:srgbClr val="1E7A46"/>
                </a:solidFill>
              </a:rPr>
              <a:t>C — Our own model  ✓ recommended</a:t>
            </a:r>
          </a:p>
          <a:p>
            <a:pPr algn="l"/>
            <a:r>
              <a:rPr sz="7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A compact 150M-parameter model, fine-tuned on our own emails and our own intent taxonomy.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Runs in our network. Version-frozen, so any past decision can be reproduced for 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4279392"/>
            <a:ext cx="5303520" cy="2011680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82512" y="4279392"/>
            <a:ext cx="54864" cy="2011680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407408"/>
            <a:ext cx="4892040" cy="175564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800" b="1">
                <a:solidFill>
                  <a:srgbClr val="9A6600"/>
                </a:solidFill>
              </a:rPr>
              <a:t>D — Paid LLM API</a:t>
            </a:r>
          </a:p>
          <a:p>
            <a:pPr algn="l"/>
            <a:r>
              <a:rPr sz="7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Fastest to a first result, and strong at language it has never seen.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But every email — including bank details — leaves our network on every call, forever.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3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Four ways to do this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HEAD TO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Eight dimensions that matter to us. Green marks the stronger option on each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28803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416052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Our own fine-tuned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1645920"/>
            <a:ext cx="416052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Paid LLM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48256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Accuracy on our taxonomy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048256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89% measured on our 20 intents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2048256"/>
            <a:ext cx="41605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Must be re-told our intents every call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78024"/>
            <a:ext cx="288036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Latency per email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478024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~15 milliseconds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2478024"/>
            <a:ext cx="416052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2–5 seconds (100–300× slower)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07791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Marginal cost per 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07791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~$0 once built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2907791"/>
            <a:ext cx="41605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$0.006 – $0.05 (measured)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37559"/>
            <a:ext cx="288036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Sensitive data residency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337559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Never leaves our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3337559"/>
            <a:ext cx="416052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Bank details sent to a third party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7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Reproducibility / 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767327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Version frozen, replayable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43800" y="3767327"/>
            <a:ext cx="41605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Vendor updates without notice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97095"/>
            <a:ext cx="288036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197095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No rate limits, no outage risk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4197095"/>
            <a:ext cx="416052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Rate limits; vendor uptime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26863"/>
            <a:ext cx="28803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Vendor lock-in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4626863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None — the asset is ours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4626863"/>
            <a:ext cx="41605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High — pricing and terms can change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56631"/>
            <a:ext cx="288036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Time to first 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0" y="5056631"/>
            <a:ext cx="4160520" cy="42976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6–8 weeks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5056631"/>
            <a:ext cx="4160520" cy="429768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Days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50992"/>
            <a:ext cx="11183112" cy="77724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742432"/>
            <a:ext cx="10698480" cy="6217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The LLM API wins on exactly one dimension — time to first result. We can have that too, by using it as the teacher (slide 7).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4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Own model vs. paid LLM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HONEST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Token counts below are measured on our own 4,499-email corpus, not estimated. Pricing at frontier-model rates.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0B2447"/>
                </a:solidFill>
              </a:rPr>
              <a:t>Paid API run-rate  ·  120,000 emails /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01952"/>
            <a:ext cx="28803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Prompt scenario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901952"/>
            <a:ext cx="12344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Tok / 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901952"/>
            <a:ext cx="141732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$ / 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04288"/>
            <a:ext cx="2880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Truncated + prompt caching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304288"/>
            <a:ext cx="12344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~730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2304288"/>
            <a:ext cx="1417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$0.4k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24912"/>
            <a:ext cx="28803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As piloted (truncated)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724912"/>
            <a:ext cx="12344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1,368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724912"/>
            <a:ext cx="141732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$0.7k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2880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Full email, untruncated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145536"/>
            <a:ext cx="12344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5,238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3145536"/>
            <a:ext cx="1417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$2.1k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66160"/>
            <a:ext cx="28803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Full thread + 3× 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566160"/>
            <a:ext cx="12344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~15,700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566160"/>
            <a:ext cx="141732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$6.2k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86784"/>
            <a:ext cx="2880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Enterprise-wide (10× volume)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986784"/>
            <a:ext cx="12344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3986784"/>
            <a:ext cx="14173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$4k – 62k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1572768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0B2447"/>
                </a:solidFill>
              </a:rPr>
              <a:t>Three-year total cost of ownership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1901952"/>
            <a:ext cx="26517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9034272" y="1901952"/>
            <a:ext cx="132588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Paid API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60152" y="1901952"/>
            <a:ext cx="132588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Own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2304288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Engineering build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34272" y="2304288"/>
            <a:ext cx="1325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60152" y="2304288"/>
            <a:ext cx="1325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$20k – 35k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82512" y="2724912"/>
            <a:ext cx="26517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One-time LLM labelling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34272" y="2724912"/>
            <a:ext cx="132588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60152" y="2724912"/>
            <a:ext cx="132588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~$0.5k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145536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Hosting / run, 3 yrs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34272" y="3145536"/>
            <a:ext cx="1325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included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60152" y="3145536"/>
            <a:ext cx="1325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~$6k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2512" y="3566160"/>
            <a:ext cx="26517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3-yr total — today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34272" y="3566160"/>
            <a:ext cx="1325880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A1A"/>
                </a:solidFill>
              </a:rPr>
              <a:t>$1k – 19k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60152" y="3566160"/>
            <a:ext cx="132588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$26k – 41k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3986784"/>
            <a:ext cx="26517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3-yr total — 10× volume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34272" y="3986784"/>
            <a:ext cx="1325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$12k – 186k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60152" y="3986784"/>
            <a:ext cx="1325880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A1A"/>
                </a:solidFill>
              </a:rPr>
              <a:t>$28k – 44k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498848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00" b="0">
                <a:solidFill>
                  <a:srgbClr val="5A6472"/>
                </a:solidFill>
              </a:rPr>
              <a:t>Green marks the cheaper option in each row. Engineering estimated at one fully-loaded engineer for 6–8 weeks.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800600"/>
            <a:ext cx="11183112" cy="1572768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800600"/>
            <a:ext cx="54864" cy="1572768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4901184"/>
            <a:ext cx="10698480" cy="1417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9A6600"/>
                </a:solidFill>
              </a:rPr>
              <a:t>Stated plainly: at today's volume, building our own model is the more expensive option.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Break-even is about $10–12k / year of API spend — roughly ten times our current volume, or any full-thread scenario with self-consistency checks.</a:t>
            </a:r>
          </a:p>
          <a:p>
            <a:pPr algn="l"/>
            <a:r>
              <a:rPr sz="1600" b="1">
                <a:solidFill>
                  <a:srgbClr val="0B2447"/>
                </a:solidFill>
              </a:rPr>
              <a:t>We recommend building for control, auditability and data residency — not to save money in year one.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5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it actually costs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EVIDENCE — WORKING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Not a proposal on paper. An end-to-end pipeline was built and run on 4,499 real emails.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2194560" cy="1371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2194560" cy="54864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3000" b="1">
                <a:solidFill>
                  <a:srgbClr val="0B2447"/>
                </a:solidFill>
              </a:rPr>
              <a:t>4,499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95728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5A6472"/>
                </a:solidFill>
              </a:rPr>
              <a:t>emails extracted</a:t>
            </a:r>
          </a:p>
          <a:p>
            <a:pPr algn="ctr"/>
            <a:r>
              <a:rPr sz="1350" b="0">
                <a:solidFill>
                  <a:srgbClr val="5A6472"/>
                </a:solidFill>
              </a:rPr>
              <a:t>and cleaned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28" y="1645920"/>
            <a:ext cx="2194560" cy="1371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52928" y="1645920"/>
            <a:ext cx="2194560" cy="54864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44368" y="1828800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3000" b="1">
                <a:solidFill>
                  <a:srgbClr val="0B2447"/>
                </a:solidFill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395728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5A6472"/>
                </a:solidFill>
              </a:rPr>
              <a:t>intents discovered</a:t>
            </a:r>
          </a:p>
          <a:p>
            <a:pPr algn="ctr"/>
            <a:r>
              <a:rPr sz="1350" b="0">
                <a:solidFill>
                  <a:srgbClr val="5A6472"/>
                </a:solidFill>
              </a:rPr>
              <a:t>and validated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02936" y="1645920"/>
            <a:ext cx="2194560" cy="1371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02936" y="1645920"/>
            <a:ext cx="2194560" cy="54864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94376" y="1828800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3000" b="1">
                <a:solidFill>
                  <a:srgbClr val="0B2447"/>
                </a:solidFill>
              </a:rPr>
              <a:t>89.1%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94376" y="2395728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5A6472"/>
                </a:solidFill>
              </a:rPr>
              <a:t>accuracy on held-out</a:t>
            </a:r>
          </a:p>
          <a:p>
            <a:pPr algn="ctr"/>
            <a:r>
              <a:rPr sz="1350" b="0">
                <a:solidFill>
                  <a:srgbClr val="5A6472"/>
                </a:solidFill>
              </a:rPr>
              <a:t>test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52944" y="1645920"/>
            <a:ext cx="2194560" cy="1371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52944" y="1645920"/>
            <a:ext cx="2194560" cy="54864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4383" y="1828800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3000" b="1">
                <a:solidFill>
                  <a:srgbClr val="0B2447"/>
                </a:solidFill>
              </a:rPr>
              <a:t>84.3%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3" y="2395728"/>
            <a:ext cx="2011679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5A6472"/>
                </a:solidFill>
              </a:rPr>
              <a:t>macro-F1 across</a:t>
            </a:r>
          </a:p>
          <a:p>
            <a:pPr algn="ctr"/>
            <a:r>
              <a:rPr sz="1350" b="0">
                <a:solidFill>
                  <a:srgbClr val="5A6472"/>
                </a:solidFill>
              </a:rPr>
              <a:t>all 15 classes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02952" y="1645920"/>
            <a:ext cx="1783080" cy="1371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02952" y="1645920"/>
            <a:ext cx="1783080" cy="54864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94392" y="182880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3000" b="1">
                <a:solidFill>
                  <a:srgbClr val="0B2447"/>
                </a:solidFill>
              </a:rPr>
              <a:t>~1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4392" y="2395728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5A6472"/>
                </a:solidFill>
              </a:rPr>
              <a:t>from raw mailbox</a:t>
            </a:r>
          </a:p>
          <a:p>
            <a:pPr algn="ctr"/>
            <a:r>
              <a:rPr sz="1350" b="0">
                <a:solidFill>
                  <a:srgbClr val="5A6472"/>
                </a:solidFill>
              </a:rPr>
              <a:t>to trained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154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How it was 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74720"/>
            <a:ext cx="566928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9848" y="3474720"/>
            <a:ext cx="393192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Step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1768" y="3474720"/>
            <a:ext cx="6684264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7056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69848" y="3877056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Extract history from the mailbox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01768" y="3877056"/>
            <a:ext cx="668426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4,499 emails, cleaned of HTML and quotes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61104"/>
            <a:ext cx="566928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9848" y="4261104"/>
            <a:ext cx="3931920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Discover the intent taxonomy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1768" y="4261104"/>
            <a:ext cx="6684264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15 intents from the real corpus, not guessed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645152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9848" y="4645152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Label the corpus with an LLM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1768" y="4645152"/>
            <a:ext cx="668426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100% labelled; only 5.4% needed attention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29200"/>
            <a:ext cx="566928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69848" y="5029200"/>
            <a:ext cx="3931920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Fine-tune our own model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01768" y="5029200"/>
            <a:ext cx="6684264" cy="384048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ModernBERT-base, one laptop GPU, minutes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13248"/>
            <a:ext cx="56692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" y="5413248"/>
            <a:ext cx="3931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Measure on held-out data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1768" y="5413248"/>
            <a:ext cx="6684264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89.1% accuracy / 84.3% macro-F1, unseen mail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5870448"/>
            <a:ext cx="54864" cy="54864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96188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1E7A46"/>
                </a:solidFill>
              </a:rPr>
              <a:t>Hardware was a laptop GPU — what we need is better data and review, not better technology.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6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We have already proven it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RECOMMENDED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This is not build-or-buy. We buy the LLM once for what it is best at, then own the asset it produces.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83112" cy="17373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38528"/>
            <a:ext cx="2331720" cy="1234440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2331720" cy="5029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121408"/>
            <a:ext cx="2112263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800" b="1">
                <a:solidFill>
                  <a:srgbClr val="9A6600"/>
                </a:solidFill>
              </a:rPr>
              <a:t>Paid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487168"/>
            <a:ext cx="2112263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1A1A1A"/>
                </a:solidFill>
              </a:rPr>
              <a:t>Labels our corpus</a:t>
            </a:r>
          </a:p>
          <a:p>
            <a:pPr algn="ctr"/>
            <a:r>
              <a:rPr sz="1350" b="0">
                <a:solidFill>
                  <a:srgbClr val="1A1A1A"/>
                </a:solidFill>
              </a:rPr>
              <a:t>ONE TIME  ·  ~$500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938528"/>
            <a:ext cx="2331720" cy="123444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03320" y="1938528"/>
            <a:ext cx="2331720" cy="50292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2121408"/>
            <a:ext cx="2112263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800" b="1">
                <a:solidFill>
                  <a:srgbClr val="19376D"/>
                </a:solidFill>
              </a:rPr>
              <a:t>Labelled 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3048" y="2487168"/>
            <a:ext cx="2112263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1A1A1A"/>
                </a:solidFill>
              </a:rPr>
              <a:t>Our data, our intents</a:t>
            </a:r>
          </a:p>
          <a:p>
            <a:pPr algn="ctr"/>
            <a:r>
              <a:rPr sz="1350" b="0">
                <a:solidFill>
                  <a:srgbClr val="1A1A1A"/>
                </a:solidFill>
              </a:rPr>
              <a:t>Owned by 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1938528"/>
            <a:ext cx="2331720" cy="123444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29400" y="1938528"/>
            <a:ext cx="233172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2121408"/>
            <a:ext cx="2112263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800" b="1">
                <a:solidFill>
                  <a:srgbClr val="1E7A46"/>
                </a:solidFill>
              </a:rPr>
              <a:t>Our own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2487168"/>
            <a:ext cx="2112263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1A1A1A"/>
                </a:solidFill>
              </a:rPr>
              <a:t>Fine-tuned ModernBERT</a:t>
            </a:r>
          </a:p>
          <a:p>
            <a:pPr algn="ctr"/>
            <a:r>
              <a:rPr sz="1350" b="0">
                <a:solidFill>
                  <a:srgbClr val="1A1A1A"/>
                </a:solidFill>
              </a:rPr>
              <a:t>Trained on our corpus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55480" y="1938528"/>
            <a:ext cx="1874519" cy="123444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55480" y="1938528"/>
            <a:ext cx="1874519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65207" y="2121408"/>
            <a:ext cx="1655063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800" b="1">
                <a:solidFill>
                  <a:srgbClr val="1E7A46"/>
                </a:solidFill>
              </a:rPr>
              <a:t>Runtime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7" y="2487168"/>
            <a:ext cx="1655063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50" b="0">
                <a:solidFill>
                  <a:srgbClr val="1A1A1A"/>
                </a:solidFill>
              </a:rPr>
              <a:t>Classifies all mail</a:t>
            </a:r>
          </a:p>
          <a:p>
            <a:pPr algn="ctr"/>
            <a:r>
              <a:rPr sz="1350" b="0">
                <a:solidFill>
                  <a:srgbClr val="1A1A1A"/>
                </a:solidFill>
              </a:rPr>
              <a:t>~$0 per email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35915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2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5915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2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235915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2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65760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Why this is the strongest position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05072"/>
            <a:ext cx="3611880" cy="137160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05072"/>
            <a:ext cx="54864" cy="137160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4114800"/>
            <a:ext cx="3264408" cy="11521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We get the speed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The LLM does the slow part —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labelling — in days, not months.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4005072"/>
            <a:ext cx="3611880" cy="137160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4005072"/>
            <a:ext cx="54864" cy="137160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7136" y="4114800"/>
            <a:ext cx="3264408" cy="11521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We keep the asset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The labelled corpus and the model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are ours permanently.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9016" y="4005072"/>
            <a:ext cx="3557016" cy="137160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9016" y="4005072"/>
            <a:ext cx="54864" cy="137160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0184" y="4114800"/>
            <a:ext cx="3209544" cy="11521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We stop paying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The teacher is paid once.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The runtime costs us nothing.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486400"/>
            <a:ext cx="11183112" cy="9144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577840"/>
            <a:ext cx="10698480" cy="7772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FFFFFF"/>
                </a:solidFill>
              </a:rPr>
              <a:t>Renting an LLM per email means paying forever for a capability we never own, while our most sensitive data leaves the network on every call.</a:t>
            </a:r>
          </a:p>
          <a:p>
            <a:pPr algn="l"/>
            <a:r>
              <a:rPr sz="1650" b="1">
                <a:solidFill>
                  <a:srgbClr val="A5D7E8"/>
                </a:solidFill>
              </a:rPr>
              <a:t>Paying once to train our own model turns that same spend into an asset we keep.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7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winning move: use both, in the right roles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Ten steps from mailbox to routed intent. Steps 1–5 build the model once; steps 6–10 run continuously.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00" b="1">
                <a:solidFill>
                  <a:srgbClr val="576CBC"/>
                </a:solidFill>
              </a:rPr>
              <a:t>BUILD ONCE  —  6 to 8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38528"/>
            <a:ext cx="1965960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38528"/>
            <a:ext cx="1965960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66543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1. 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350008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Graph API delta sync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from shared mailboxes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395728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8063" y="1938528"/>
            <a:ext cx="1965960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3" y="1938528"/>
            <a:ext cx="1965960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071" y="2066543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2. 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1" y="2350008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Strip HTML, quotes,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signatures, footers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395728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93207" y="1938528"/>
            <a:ext cx="1965960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3207" y="1938528"/>
            <a:ext cx="1965960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6" y="2066543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3. 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6" y="2350008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LLM assigns intent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+ confidence, one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77455" y="2395728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88351" y="1938528"/>
            <a:ext cx="1965960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88351" y="1938528"/>
            <a:ext cx="1965960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59" y="2066543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4.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2350008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Business corrects the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uncertain and sampled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599" y="2395728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83495" y="1938528"/>
            <a:ext cx="1965960" cy="1188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83495" y="1938528"/>
            <a:ext cx="1965960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47503" y="2066543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5. 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7503" y="2350008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Fine-tune ModernBERT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on our own corpus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34670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00" b="1">
                <a:solidFill>
                  <a:srgbClr val="1E7A46"/>
                </a:solidFill>
              </a:rPr>
              <a:t>RUN CONTINUOUSLY  —  every day thereafter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57600"/>
            <a:ext cx="1965960" cy="118872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657600"/>
            <a:ext cx="196596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785616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6. Evaluate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069080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Gold set decides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whether it ships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87168" y="4114800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1E7A46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98063" y="3657600"/>
            <a:ext cx="1965960" cy="118872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98063" y="3657600"/>
            <a:ext cx="196596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62071" y="3785616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7. Deploy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62071" y="4069080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Versioned model,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frozen for audit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82312" y="4114800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1E7A46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93207" y="3657600"/>
            <a:ext cx="1965960" cy="118872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3207" y="3657600"/>
            <a:ext cx="196596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57216" y="3785616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8. Classify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57216" y="4069080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New mail scored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in ~15 milliseconds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77455" y="4114800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1E7A46"/>
                </a:solidFill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88351" y="3657600"/>
            <a:ext cx="1965960" cy="118872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88351" y="3657600"/>
            <a:ext cx="196596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59" y="3785616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9. Route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59" y="4069080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Confident cases auto,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rest to a person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599" y="4114800"/>
            <a:ext cx="292608" cy="310896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2000" b="1">
                <a:solidFill>
                  <a:srgbClr val="1E7A46"/>
                </a:solidFill>
              </a:rPr>
              <a:t>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83495" y="3657600"/>
            <a:ext cx="1965960" cy="118872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83495" y="3657600"/>
            <a:ext cx="1965960" cy="50292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47503" y="3785616"/>
            <a:ext cx="1837943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10. Improve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47503" y="4069080"/>
            <a:ext cx="1837943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Corrections feed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weekly retraining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956048"/>
            <a:ext cx="11183112" cy="14630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4956048"/>
            <a:ext cx="54864" cy="1463040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047488"/>
            <a:ext cx="1069848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0B2447"/>
                </a:solidFill>
              </a:rPr>
              <a:t>Two things hold this together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Step 2 uses identical cleaning code in training and production. Divergence there is the most common silent killer of accuracy.</a:t>
            </a:r>
          </a:p>
          <a:p>
            <a:pPr algn="l"/>
            <a:r>
              <a:rPr sz="1600" b="1">
                <a:solidFill>
                  <a:srgbClr val="1E7A46"/>
                </a:solidFill>
              </a:rPr>
              <a:t>Step 3 is the only point where email content leaves our network — once, and never again after training.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8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How it works, end to 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ACCESS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Read-only, scoped to the named procurement mailboxes, granted to a service identity rather than to a person.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1E7A46"/>
                </a:solidFill>
              </a:rPr>
              <a:t>What we are asking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56816"/>
            <a:ext cx="2377440" cy="402336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Permission / control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956816"/>
            <a:ext cx="3017520" cy="402336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What it allows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5915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Mail.Read  (application)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359152"/>
            <a:ext cx="30175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Read message bodies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61488"/>
            <a:ext cx="237744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Application Access Policy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761488"/>
            <a:ext cx="301752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Limited to named mailboxes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63824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Certificate credential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3163824"/>
            <a:ext cx="30175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No shared passwords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66160"/>
            <a:ext cx="237744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Delta query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3566160"/>
            <a:ext cx="301752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Incremental sync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45920"/>
            <a:ext cx="537667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B3261E"/>
                </a:solidFill>
              </a:rPr>
              <a:t>What we are deliberately not asking for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956816"/>
            <a:ext cx="2377440" cy="402336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Permission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1956816"/>
            <a:ext cx="2999232" cy="402336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Why we do not want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35915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Mail.Send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359152"/>
            <a:ext cx="29992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We never send email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Mail.ReadWrite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0" y="2761488"/>
            <a:ext cx="2999232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We never edit or delete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163824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Unscoped Mail.Read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3163824"/>
            <a:ext cx="29992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Would expose every mailbox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566160"/>
            <a:ext cx="2377440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Directory / User.Read.All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3566160"/>
            <a:ext cx="2999232" cy="402336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Not needed at 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07822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>
                <a:solidFill>
                  <a:srgbClr val="0B2447"/>
                </a:solidFill>
              </a:rPr>
              <a:t>One-time setup, by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70832"/>
            <a:ext cx="1965960" cy="96012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71416"/>
            <a:ext cx="1837943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Register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754880"/>
            <a:ext cx="1837943" cy="5303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Entra ID app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registration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36592"/>
            <a:ext cx="29260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9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98063" y="4370832"/>
            <a:ext cx="1965960" cy="96012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1" y="4471416"/>
            <a:ext cx="1837943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Admin consent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62071" y="4754880"/>
            <a:ext cx="1837943" cy="5303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Tenant admin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grants Mail.Read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82312" y="4736592"/>
            <a:ext cx="29260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9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93207" y="4370832"/>
            <a:ext cx="1965960" cy="96012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57216" y="4471416"/>
            <a:ext cx="1837943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Scope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4754880"/>
            <a:ext cx="1837943" cy="5303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Scoped to named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mailboxes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77455" y="4736592"/>
            <a:ext cx="29260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9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88351" y="4370832"/>
            <a:ext cx="1965960" cy="96012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2359" y="4471416"/>
            <a:ext cx="1837943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Certificate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59" y="4754880"/>
            <a:ext cx="1837943" cy="5303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Cert in Key Vault,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rotated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736592"/>
            <a:ext cx="29260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900" b="1">
                <a:solidFill>
                  <a:srgbClr val="576CBC"/>
                </a:solidFill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83495" y="4370832"/>
            <a:ext cx="1965960" cy="960120"/>
          </a:xfrm>
          <a:prstGeom prst="rect">
            <a:avLst/>
          </a:prstGeom>
          <a:solidFill>
            <a:srgbClr val="EA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47503" y="4471416"/>
            <a:ext cx="1837943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600" b="1">
                <a:solidFill>
                  <a:srgbClr val="0B2447"/>
                </a:solidFill>
              </a:rPr>
              <a:t>Verify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47503" y="4754880"/>
            <a:ext cx="1837943" cy="5303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300" b="0">
                <a:solidFill>
                  <a:srgbClr val="5A6472"/>
                </a:solidFill>
              </a:rPr>
              <a:t>No other mailbox</a:t>
            </a:r>
          </a:p>
          <a:p>
            <a:pPr algn="ctr"/>
            <a:r>
              <a:rPr sz="1300" b="0">
                <a:solidFill>
                  <a:srgbClr val="5A6472"/>
                </a:solidFill>
              </a:rPr>
              <a:t>is reachable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440680"/>
            <a:ext cx="11183112" cy="77724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02920" y="5440680"/>
            <a:ext cx="54864" cy="77724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</a:rPr>
              <a:t>One application, read-only, with an Exchange policy that makes every other mailbox in the tenant unreachable — not merely off-limits by convention. Revoking it is a single switch in Entra ID.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9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access we need — Microsoft Graph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PROTECTING THE SHARED MAILBOXES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Personal login is right for a prototype and wrong for a running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28346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664208"/>
            <a:ext cx="411480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Personal login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664208"/>
            <a:ext cx="4233672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Service principal (recommended)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66544"/>
            <a:ext cx="28346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066544"/>
            <a:ext cx="4114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A named employee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066544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Purpose-built, non-human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59736"/>
            <a:ext cx="283464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Graph permission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459736"/>
            <a:ext cx="411480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Mail.Read.Shared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2459736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Mail.Read + access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52928"/>
            <a:ext cx="28346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Reach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852928"/>
            <a:ext cx="4114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Any mailbox they can open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2852928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Only the named mailboxes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46120"/>
            <a:ext cx="283464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Audit trail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46120"/>
            <a:ext cx="411480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Attributed to a person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3246120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Attributed to the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39312"/>
            <a:ext cx="28346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If they change role or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639312"/>
            <a:ext cx="4114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Pipeline breaks, access follows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52360" y="3639312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Unaffected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32504"/>
            <a:ext cx="283464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MFA / password rotation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4032504"/>
            <a:ext cx="411480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Interrupts the automation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2360" y="4032504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Certificate, rotated on schedule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425696"/>
            <a:ext cx="28346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1">
                <a:solidFill>
                  <a:srgbClr val="1A1A1A"/>
                </a:solidFill>
              </a:rPr>
              <a:t>Revoking access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4425696"/>
            <a:ext cx="41148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Disable an employee's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4425696"/>
            <a:ext cx="4233672" cy="393192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0">
                <a:solidFill>
                  <a:srgbClr val="1A1A1A"/>
                </a:solidFill>
              </a:rPr>
              <a:t>Disable one app registration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937760"/>
            <a:ext cx="2679192" cy="86868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937760"/>
            <a:ext cx="54864" cy="868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5047488"/>
            <a:ext cx="2331720" cy="64922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0B2447"/>
                </a:solidFill>
              </a:rPr>
              <a:t>Read-only</a:t>
            </a:r>
          </a:p>
          <a:p>
            <a:pPr algn="l"/>
            <a:r>
              <a:rPr sz="1350" b="0">
                <a:solidFill>
                  <a:srgbClr val="1A1A1A"/>
                </a:solidFill>
              </a:rPr>
              <a:t>No send, no edit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7560" y="4937760"/>
            <a:ext cx="2679192" cy="86868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7560" y="4937760"/>
            <a:ext cx="54864" cy="868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5047488"/>
            <a:ext cx="2331720" cy="64922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0B2447"/>
                </a:solidFill>
              </a:rPr>
              <a:t>Scoped</a:t>
            </a:r>
          </a:p>
          <a:p>
            <a:pPr algn="l"/>
            <a:r>
              <a:rPr sz="1350" b="0">
                <a:solidFill>
                  <a:srgbClr val="1A1A1A"/>
                </a:solidFill>
              </a:rPr>
              <a:t>Named mailboxes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937760"/>
            <a:ext cx="2679192" cy="86868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4937760"/>
            <a:ext cx="54864" cy="868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3368" y="5047488"/>
            <a:ext cx="2331720" cy="64922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0B2447"/>
                </a:solidFill>
              </a:rPr>
              <a:t>Audited</a:t>
            </a:r>
          </a:p>
          <a:p>
            <a:pPr algn="l"/>
            <a:r>
              <a:rPr sz="1350" b="0">
                <a:solidFill>
                  <a:srgbClr val="1A1A1A"/>
                </a:solidFill>
              </a:rPr>
              <a:t>Purview logs all reads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6840" y="4937760"/>
            <a:ext cx="2679192" cy="868680"/>
          </a:xfrm>
          <a:prstGeom prst="rect">
            <a:avLst/>
          </a:prstGeom>
          <a:solidFill>
            <a:srgbClr val="E3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06840" y="4937760"/>
            <a:ext cx="54864" cy="868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8008" y="5047488"/>
            <a:ext cx="2331720" cy="64922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1">
                <a:solidFill>
                  <a:srgbClr val="0B2447"/>
                </a:solidFill>
              </a:rPr>
              <a:t>Minimised</a:t>
            </a:r>
          </a:p>
          <a:p>
            <a:pPr algn="l"/>
            <a:r>
              <a:rPr sz="1350" b="0">
                <a:solidFill>
                  <a:srgbClr val="1A1A1A"/>
                </a:solidFill>
              </a:rPr>
              <a:t>Only fields we need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870448"/>
            <a:ext cx="11183112" cy="621792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870448"/>
            <a:ext cx="54864" cy="621792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943600"/>
            <a:ext cx="10698480" cy="5120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</a:rPr>
              <a:t>The one-time labelling step does send email content to an external LLM — it needs its own approval, and it is exactly what owning the model ends.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10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Access control and safety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RISKS — STATED UP FRONT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These are real. All are manageable, and all are cheaper to address than an unbounded API dependency.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320040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691640"/>
            <a:ext cx="420624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Why it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59" y="1691640"/>
            <a:ext cx="3776472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How we handle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93976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Needs labelled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093976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A model is only as good as its examples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59" y="20939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LLM labels bulk; people check the 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51176"/>
            <a:ext cx="320040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Labels may be noisy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2551176"/>
            <a:ext cx="420624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Bad labels quietly cap 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59" y="25511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600-email human gold 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Taxonomy may not be learnable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008376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Business categories overlap in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59" y="30083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Validated on real mail first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65576"/>
            <a:ext cx="320040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Language drifts over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3465576"/>
            <a:ext cx="420624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New suppliers, systems, wording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59" y="34655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Weekly retraining with a 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22776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ML skills needed in-house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3922776"/>
            <a:ext cx="4206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 must be able to maintain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59" y="39227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Open tooling; pipeline built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379976"/>
            <a:ext cx="320040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Multi-topic emails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4379976"/>
            <a:ext cx="4206240" cy="457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One email can carry two requests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59" y="4379976"/>
            <a:ext cx="3776472" cy="457200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Detected and escalated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19472"/>
            <a:ext cx="5532120" cy="1417320"/>
          </a:xfrm>
          <a:prstGeom prst="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919472"/>
            <a:ext cx="54864" cy="14173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5120640" cy="11978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B3261E"/>
                </a:solidFill>
              </a:rPr>
              <a:t>The risk of doing nothing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Triage stays people-limited. Volume grows, headcount grows with it, and nothing downstream can be automated.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4919472"/>
            <a:ext cx="5303520" cy="1417320"/>
          </a:xfrm>
          <a:prstGeom prst="rect">
            <a:avLst/>
          </a:prstGeom>
          <a:solidFill>
            <a:srgbClr val="FFF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2512" y="4919472"/>
            <a:ext cx="54864" cy="1417320"/>
          </a:xfrm>
          <a:prstGeom prst="rect">
            <a:avLst/>
          </a:prstGeom>
          <a:solidFill>
            <a:srgbClr val="9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1112" y="5029200"/>
            <a:ext cx="4892040" cy="119786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9A6600"/>
                </a:solidFill>
              </a:rPr>
              <a:t>The risk of renting instead</a:t>
            </a:r>
          </a:p>
          <a:p>
            <a:pPr algn="l"/>
            <a:r>
              <a:rPr sz="1600" b="0">
                <a:solidFill>
                  <a:srgbClr val="1A1A1A"/>
                </a:solidFill>
              </a:rPr>
              <a:t>Sensitive supplier data leaves our network on every call. Costs rise with every new inbox, and we own nothing at the end.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11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could go wrong, and how we handle 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03504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A5D7E8"/>
                </a:solidFill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0">
                <a:solidFill>
                  <a:srgbClr val="5A6472"/>
                </a:solidFill>
              </a:rPr>
              <a:t>One decision today; the rest is already specified and partly built.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45920"/>
            <a:ext cx="11183112" cy="868680"/>
          </a:xfrm>
          <a:prstGeom prst="rect">
            <a:avLst/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Approve building our own model, with a paid LLM used once as a teacher.</a:t>
            </a:r>
          </a:p>
          <a:p>
            <a:pPr algn="l"/>
            <a:r>
              <a:rPr sz="1600" b="0">
                <a:solidFill>
                  <a:srgbClr val="A5D7E8"/>
                </a:solidFill>
              </a:rPr>
              <a:t>Not approving means a permanent per-email fee and supplier data leaving our network.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7432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What we need from the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72384"/>
            <a:ext cx="31089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3072384"/>
            <a:ext cx="228600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Effort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Agreed list of intents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474720"/>
            <a:ext cx="2286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95344"/>
            <a:ext cx="31089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~100 example emails per intent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3895344"/>
            <a:ext cx="228600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Review of uncertain labels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315968"/>
            <a:ext cx="2286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~30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36592"/>
            <a:ext cx="31089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Access to shared inboxes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4736592"/>
            <a:ext cx="228600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IT 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7432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50" b="1">
                <a:solidFill>
                  <a:srgbClr val="0B2447"/>
                </a:solidFill>
              </a:rPr>
              <a:t>What we deliver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072384"/>
            <a:ext cx="3108960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Deliverable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20" y="3072384"/>
            <a:ext cx="2267712" cy="402336"/>
          </a:xfrm>
          <a:prstGeom prst="rect">
            <a:avLst/>
          </a:prstGeom>
          <a:solidFill>
            <a:srgbClr val="1937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When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474720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Validated intent taxonomy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3474720"/>
            <a:ext cx="2267712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Week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895344"/>
            <a:ext cx="31089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Labelled corpus (ours to keep)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3895344"/>
            <a:ext cx="2267712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Week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315968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Trained, measured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0" y="4315968"/>
            <a:ext cx="2267712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Week 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736592"/>
            <a:ext cx="310896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1">
                <a:solidFill>
                  <a:srgbClr val="1A1A1A"/>
                </a:solidFill>
              </a:rPr>
              <a:t>Benchmark report vs. LLM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4736592"/>
            <a:ext cx="2267712" cy="420624"/>
          </a:xfrm>
          <a:prstGeom prst="rect">
            <a:avLst/>
          </a:prstGeom>
          <a:solidFill>
            <a:srgbClr val="E3F3E9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</a:rPr>
              <a:t>Week 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303520"/>
            <a:ext cx="11183112" cy="10058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303520"/>
            <a:ext cx="54864" cy="1005840"/>
          </a:xfrm>
          <a:prstGeom prst="rect">
            <a:avLst/>
          </a:prstGeom>
          <a:solidFill>
            <a:srgbClr val="576C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650" b="0">
                <a:solidFill>
                  <a:srgbClr val="1A1A1A"/>
                </a:solidFill>
              </a:rPr>
              <a:t>In eight weeks we will own a measured, auditable model running inside our network at effectively zero cost per email — plus a benchmark against the paid alternative. If it loses, we will say so.</a:t>
            </a:r>
          </a:p>
          <a:p>
            <a:pPr algn="l"/>
            <a:r>
              <a:rPr sz="1600" b="1">
                <a:solidFill>
                  <a:srgbClr val="0B2447"/>
                </a:solidFill>
              </a:rPr>
              <a:t>Detailed technical specification is already written and ready for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40135" y="6473952"/>
            <a:ext cx="640080" cy="25603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r"/>
            <a:r>
              <a:rPr sz="1350" b="0">
                <a:solidFill>
                  <a:srgbClr val="5A6472"/>
                </a:solidFill>
              </a:rPr>
              <a:t>12 / 12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182880"/>
            <a:ext cx="8778240" cy="457200"/>
          </a:xfrm>
        </p:spPr>
        <p:txBody>
          <a:bodyPr wrap="square" anchor="ctr" lIns="0" rIns="0" tIns="27432" bIns="27432"/>
          <a:lstStyle/>
          <a:p>
            <a:pPr algn="l"/>
            <a:r>
              <a:rPr sz="2600" b="1">
                <a:solidFill>
                  <a:srgbClr val="FFFFFF"/>
                </a:solidFill>
              </a:rPr>
              <a:t>The decision, and what we need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