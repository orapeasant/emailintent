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23760" y="0"/>
            <a:ext cx="4965192" cy="6858000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00" b="1">
                <a:solidFill>
                  <a:srgbClr val="576CBC"/>
                </a:solidFill>
              </a:rPr>
              <a:t>DECISION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6126480" cy="8229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Automating triage of ~10,000 procurement emails per month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across shared supplier inboxes.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8932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00" b="0">
                <a:solidFill>
                  <a:srgbClr val="5A6472"/>
                </a:solidFill>
              </a:rPr>
              <a:t>Prepared by Data &amp; ML Engineering  ·  September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057400"/>
            <a:ext cx="384048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2057400"/>
            <a:ext cx="3840480" cy="45720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2057400"/>
            <a:ext cx="3840480" cy="45720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697480"/>
            <a:ext cx="3383280" cy="1600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600" b="1">
                <a:solidFill>
                  <a:srgbClr val="0B2447"/>
                </a:solidFill>
              </a:rPr>
              <a:t>Build our own model —</a:t>
            </a:r>
          </a:p>
          <a:p>
            <a:pPr algn="l"/>
            <a:r>
              <a:rPr sz="1600" b="1">
                <a:solidFill>
                  <a:srgbClr val="0B2447"/>
                </a:solidFill>
              </a:rPr>
              <a:t>using a paid LLM as a</a:t>
            </a:r>
          </a:p>
          <a:p>
            <a:pPr algn="l"/>
            <a:r>
              <a:rPr sz="1600" b="1">
                <a:solidFill>
                  <a:srgbClr val="0B2447"/>
                </a:solidFill>
              </a:rPr>
              <a:t>one-time teacher, not as</a:t>
            </a:r>
          </a:p>
          <a:p>
            <a:pPr algn="l"/>
            <a:r>
              <a:rPr sz="1600" b="1">
                <a:solidFill>
                  <a:srgbClr val="0B2447"/>
                </a:solidFill>
              </a:rPr>
              <a:t>the runtime engine.</a:t>
            </a:r>
          </a:p>
          <a:p>
            <a:pPr algn="l"/>
            <a:r>
              <a:rPr sz="7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050" b="0">
                <a:solidFill>
                  <a:srgbClr val="1E7A46"/>
                </a:solidFill>
              </a:rPr>
              <a:t>Already validated on 4,499 real emails.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0135" y="647395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1000" b="0">
                <a:solidFill>
                  <a:srgbClr val="5A6472"/>
                </a:solidFill>
              </a:rPr>
              <a:t>1 /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1874519"/>
            <a:ext cx="6126480" cy="1371600"/>
          </a:xfrm>
        </p:spPr>
        <p:txBody>
          <a:bodyPr wrap="square" anchor="ctr" lIns="0" rIns="0" tIns="27432" bIns="27432"/>
          <a:lstStyle/>
          <a:p>
            <a:pPr algn="l"/>
            <a:r>
              <a:rPr sz="3800" b="1">
                <a:solidFill>
                  <a:srgbClr val="FFFFFF"/>
                </a:solidFill>
              </a:rPr>
              <a:t>Email Intent Classification</a:t>
            </a:r>
          </a:p>
          <a:p>
            <a:pPr algn="l"/>
            <a:r>
              <a:rPr sz="2100" b="0">
                <a:solidFill>
                  <a:srgbClr val="A5D7E8"/>
                </a:solidFill>
              </a:rPr>
              <a:t>Build our own model, or rent an LLM API?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00" b="0">
                <a:solidFill>
                  <a:srgbClr val="A5D7E8"/>
                </a:solidFill>
              </a:rPr>
              <a:t>THE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</a:rPr>
              <a:t>Shared procurement inboxes are triaged by hand. Every email is read by a person before anything happens.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274320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691640"/>
            <a:ext cx="420624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59" y="1691640"/>
            <a:ext cx="420624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With intent 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9397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Triage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09397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Analyst reads every email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59" y="2093976"/>
            <a:ext cx="4206240" cy="475488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Auto-classified on arrival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69464"/>
            <a:ext cx="274320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Routing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569464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Manual forward to the right team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59" y="2569464"/>
            <a:ext cx="4206240" cy="475488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Routed by intent, automatically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4495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Prioritisation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04495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First-in, first-out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59" y="3044952"/>
            <a:ext cx="4206240" cy="475488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Urgent and high-value 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20440"/>
            <a:ext cx="274320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Downstream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3520440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Re-keyed into SAP by hand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59" y="3520440"/>
            <a:ext cx="4206240" cy="475488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Structured trigger for SAP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95928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Volume handled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3995928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~500/day, people-limited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59" y="3995928"/>
            <a:ext cx="4206240" cy="475488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~500/day, no added headcount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892040"/>
            <a:ext cx="3611880" cy="1417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892040"/>
            <a:ext cx="54864" cy="141732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5001768"/>
            <a:ext cx="3264408" cy="119786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1">
                <a:solidFill>
                  <a:srgbClr val="0B2447"/>
                </a:solidFill>
              </a:rPr>
              <a:t>Scale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~10,000 emails / month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~400–500 per day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Multiple shared inboxes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5968" y="4892040"/>
            <a:ext cx="3611880" cy="1417320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5968" y="4892040"/>
            <a:ext cx="54864" cy="1417320"/>
          </a:xfrm>
          <a:prstGeom prst="rect">
            <a:avLst/>
          </a:prstGeom>
          <a:solidFill>
            <a:srgbClr val="9A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5001768"/>
            <a:ext cx="3264408" cy="119786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1">
                <a:solidFill>
                  <a:srgbClr val="0B2447"/>
                </a:solidFill>
              </a:rPr>
              <a:t>Content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Supplier bank details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Contract pricing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Invoices, POs, disputes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9016" y="4892040"/>
            <a:ext cx="3557016" cy="1417320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9016" y="4892040"/>
            <a:ext cx="54864" cy="141732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0184" y="5001768"/>
            <a:ext cx="3209544" cy="119786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1">
                <a:solidFill>
                  <a:srgbClr val="0B2447"/>
                </a:solidFill>
              </a:rPr>
              <a:t>Implication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Highly sensitive data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Financial consequences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Auditability is mandatory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40135" y="647395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1000" b="0">
                <a:solidFill>
                  <a:srgbClr val="5A6472"/>
                </a:solidFill>
              </a:rPr>
              <a:t>2 /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82880"/>
            <a:ext cx="8778240" cy="457200"/>
          </a:xfrm>
        </p:spPr>
        <p:txBody>
          <a:bodyPr wrap="square" anchor="ctr" lIns="0" rIns="0" tIns="27432" bIns="27432"/>
          <a:lstStyle/>
          <a:p>
            <a:pPr algn="l"/>
            <a:r>
              <a:rPr sz="2500" b="1">
                <a:solidFill>
                  <a:srgbClr val="FFFFFF"/>
                </a:solidFill>
              </a:rPr>
              <a:t>The problem we are solving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00" b="0">
                <a:solidFill>
                  <a:srgbClr val="A5D7E8"/>
                </a:solidFill>
              </a:rPr>
              <a:t>THE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</a:rPr>
              <a:t>All four were evaluated. The real choice is between C and D — a model we own, or a service we rent.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228600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691640"/>
            <a:ext cx="365760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What it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691640"/>
            <a:ext cx="173736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691640"/>
            <a:ext cx="182880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Cost /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12680" y="1691640"/>
            <a:ext cx="169164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Data leaves us?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093976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A. Keyword / TF-IDF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093976"/>
            <a:ext cx="3657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Hand-written rules and word counts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09397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2093976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~$0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12680" y="2093976"/>
            <a:ext cx="1691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24328"/>
            <a:ext cx="228600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B. Embeddings + head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2624328"/>
            <a:ext cx="365760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Frozen embeddings, small classifier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624328"/>
            <a:ext cx="173736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2624328"/>
            <a:ext cx="182880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12680" y="2624328"/>
            <a:ext cx="169164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154680"/>
            <a:ext cx="2286000" cy="530352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C. Fine-tuned ModernBERT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3154680"/>
            <a:ext cx="3657600" cy="530352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Our own model, trained on our mail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154680"/>
            <a:ext cx="1737360" cy="530352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154680"/>
            <a:ext cx="1828800" cy="530352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Fixed, ~$0 marginal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80" y="3154680"/>
            <a:ext cx="1691640" cy="530352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85032"/>
            <a:ext cx="2286000" cy="530352"/>
          </a:xfrm>
          <a:prstGeom prst="rect">
            <a:avLst/>
          </a:prstGeom>
          <a:solidFill>
            <a:srgbClr val="FFF4D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D. Paid LLM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3685032"/>
            <a:ext cx="3657600" cy="530352"/>
          </a:xfrm>
          <a:prstGeom prst="rect">
            <a:avLst/>
          </a:prstGeom>
          <a:solidFill>
            <a:srgbClr val="FFF4D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Commercial LLM called per email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685032"/>
            <a:ext cx="1737360" cy="530352"/>
          </a:xfrm>
          <a:prstGeom prst="rect">
            <a:avLst/>
          </a:prstGeom>
          <a:solidFill>
            <a:srgbClr val="FFF4D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685032"/>
            <a:ext cx="1828800" cy="530352"/>
          </a:xfrm>
          <a:prstGeom prst="rect">
            <a:avLst/>
          </a:prstGeom>
          <a:solidFill>
            <a:srgbClr val="FFF4D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Grows with volume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3685032"/>
            <a:ext cx="1691640" cy="530352"/>
          </a:xfrm>
          <a:prstGeom prst="rect">
            <a:avLst/>
          </a:prstGeom>
          <a:solidFill>
            <a:srgbClr val="FFF4D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224528"/>
            <a:ext cx="5532120" cy="2057400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224528"/>
            <a:ext cx="54864" cy="205740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370832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400" b="1">
                <a:solidFill>
                  <a:srgbClr val="1E7A46"/>
                </a:solidFill>
              </a:rPr>
              <a:t>C — Our own model  ✓ recommended</a:t>
            </a:r>
          </a:p>
          <a:p>
            <a:pPr algn="l"/>
            <a:r>
              <a:rPr sz="6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A compact 150M-parameter model, fine-tuned on our own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emails and our own intent taxonomy.</a:t>
            </a:r>
          </a:p>
          <a:p>
            <a:pPr algn="l"/>
            <a:r>
              <a:rPr sz="6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Runs inside our network. Costs the same whether we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classify 10,000 or 1,000,000 emails. Version-frozen,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so an audit can reproduce any decision we made.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4224528"/>
            <a:ext cx="5303520" cy="2057400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82512" y="4224528"/>
            <a:ext cx="54864" cy="2057400"/>
          </a:xfrm>
          <a:prstGeom prst="rect">
            <a:avLst/>
          </a:prstGeom>
          <a:solidFill>
            <a:srgbClr val="9A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4370832"/>
            <a:ext cx="4892040" cy="18288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400" b="1">
                <a:solidFill>
                  <a:srgbClr val="9A6600"/>
                </a:solidFill>
              </a:rPr>
              <a:t>D — Paid LLM API</a:t>
            </a:r>
          </a:p>
          <a:p>
            <a:pPr algn="l"/>
            <a:r>
              <a:rPr sz="6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Fastest to a first result, and genuinely strong at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understanding language it has never seen.</a:t>
            </a:r>
          </a:p>
          <a:p>
            <a:pPr algn="l"/>
            <a:r>
              <a:rPr sz="6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But every email — including supplier bank details —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leaves our network, on every single call, forever.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The vendor can change the model underneath us.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40135" y="647395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1000" b="0">
                <a:solidFill>
                  <a:srgbClr val="5A6472"/>
                </a:solidFill>
              </a:rPr>
              <a:t>3 /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82880"/>
            <a:ext cx="8778240" cy="457200"/>
          </a:xfrm>
        </p:spPr>
        <p:txBody>
          <a:bodyPr wrap="square" anchor="ctr" lIns="0" rIns="0" tIns="27432" bIns="27432"/>
          <a:lstStyle/>
          <a:p>
            <a:pPr algn="l"/>
            <a:r>
              <a:rPr sz="2500" b="1">
                <a:solidFill>
                  <a:srgbClr val="FFFFFF"/>
                </a:solidFill>
              </a:rPr>
              <a:t>Four ways to do this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00" b="0">
                <a:solidFill>
                  <a:srgbClr val="A5D7E8"/>
                </a:solidFill>
              </a:rPr>
              <a:t>HEAD TO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</a:rPr>
              <a:t>Eight dimensions that matter to us. Green marks the stronger option on each row.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288036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416052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Our own fine-tuned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645920"/>
            <a:ext cx="416052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Paid LLM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48256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Accuracy on our taxonomy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048256"/>
            <a:ext cx="4160520" cy="429768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89% measured — learns our 20 intents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800" y="2048256"/>
            <a:ext cx="4160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Strong generally; must be re-told our intents every 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78024"/>
            <a:ext cx="2880360" cy="4297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Latency per email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478024"/>
            <a:ext cx="4160520" cy="429768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~15 milliseconds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2478024"/>
            <a:ext cx="4160520" cy="4297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2–5 seconds (100–300× slower)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07791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Marginal cost per 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907791"/>
            <a:ext cx="4160520" cy="429768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~$0 once 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2907791"/>
            <a:ext cx="4160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$0.006 – $0.05 (measured)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37559"/>
            <a:ext cx="2880360" cy="4297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Sensitive data residency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337559"/>
            <a:ext cx="4160520" cy="429768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Never leaves our network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3337559"/>
            <a:ext cx="4160520" cy="4297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Bank details and pricing sent to a third party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67327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Reproducibility / audit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767327"/>
            <a:ext cx="4160520" cy="429768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Version frozen — any decision replayable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3767327"/>
            <a:ext cx="4160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Vendor updates the model without notice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197095"/>
            <a:ext cx="2880360" cy="4297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Availability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197095"/>
            <a:ext cx="4160520" cy="429768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No rate limits, no external outage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4197095"/>
            <a:ext cx="4160520" cy="4297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Rate limits; dependent on vendor uptime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626863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Vendor lock-in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4626863"/>
            <a:ext cx="4160520" cy="429768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None — the asset is ours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4626863"/>
            <a:ext cx="4160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High — pricing and terms can change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056631"/>
            <a:ext cx="2880360" cy="4297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Time to first result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5056631"/>
            <a:ext cx="4160520" cy="4297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6–8 weeks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3800" y="5056631"/>
            <a:ext cx="4160520" cy="429768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Days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742432"/>
            <a:ext cx="11183112" cy="65836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87044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</a:rPr>
              <a:t>The LLM API wins on exactly one dimension — how fast we can start. We can have that too, by using it as the teacher (slide 7).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40135" y="647395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1000" b="0">
                <a:solidFill>
                  <a:srgbClr val="5A6472"/>
                </a:solidFill>
              </a:rPr>
              <a:t>4 /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82880"/>
            <a:ext cx="8778240" cy="457200"/>
          </a:xfrm>
        </p:spPr>
        <p:txBody>
          <a:bodyPr wrap="square" anchor="ctr" lIns="0" rIns="0" tIns="27432" bIns="27432"/>
          <a:lstStyle/>
          <a:p>
            <a:pPr algn="l"/>
            <a:r>
              <a:rPr sz="2500" b="1">
                <a:solidFill>
                  <a:srgbClr val="FFFFFF"/>
                </a:solidFill>
              </a:rPr>
              <a:t>Own model vs. paid LLM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00" b="0">
                <a:solidFill>
                  <a:srgbClr val="A5D7E8"/>
                </a:solidFill>
              </a:rPr>
              <a:t>THE HONEST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</a:rPr>
              <a:t>Token counts below are measured on our own 4,499-email corpus, not estimated. Pricing at frontier-model rates.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50" b="1">
                <a:solidFill>
                  <a:srgbClr val="0B2447"/>
                </a:solidFill>
              </a:rPr>
              <a:t>Paid API run-rate  ·  120,000 emails /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01952"/>
            <a:ext cx="288036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>
                <a:solidFill>
                  <a:srgbClr val="FFFFFF"/>
                </a:solidFill>
              </a:rPr>
              <a:t>Prompt 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901952"/>
            <a:ext cx="123444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Tok / 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901952"/>
            <a:ext cx="141732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$ / yr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04288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1A1A1A"/>
                </a:solidFill>
              </a:rPr>
              <a:t>Truncated + prompt caching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304288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~730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304288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$0.4k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24912"/>
            <a:ext cx="288036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1A1A1A"/>
                </a:solidFill>
              </a:rPr>
              <a:t>As piloted (truncated)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724912"/>
            <a:ext cx="123444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1,368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724912"/>
            <a:ext cx="141732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$0.7k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45536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1A1A1A"/>
                </a:solidFill>
              </a:rPr>
              <a:t>Full email, untruncated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145536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5,238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3145536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$2.1k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66160"/>
            <a:ext cx="288036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1A1A1A"/>
                </a:solidFill>
              </a:rPr>
              <a:t>Full thread + 3× consistency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123444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~15,700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566160"/>
            <a:ext cx="141732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$6.2k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986784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1A1A1A"/>
                </a:solidFill>
              </a:rPr>
              <a:t>Enterprise-wide (10× volume)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986784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3986784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$4k – 62k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157276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50" b="1">
                <a:solidFill>
                  <a:srgbClr val="0B2447"/>
                </a:solidFill>
              </a:rPr>
              <a:t>Three-year total cost of ownership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2512" y="1901952"/>
            <a:ext cx="265176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9034272" y="1901952"/>
            <a:ext cx="132588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Paid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60152" y="1901952"/>
            <a:ext cx="132588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Own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2304288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1A1A1A"/>
                </a:solidFill>
              </a:rPr>
              <a:t>Engineering build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34272" y="2304288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60152" y="2304288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$20k – 35k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2724912"/>
            <a:ext cx="265176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1A1A1A"/>
                </a:solidFill>
              </a:rPr>
              <a:t>One-time LLM labelling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34272" y="2724912"/>
            <a:ext cx="132588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$0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60152" y="2724912"/>
            <a:ext cx="132588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~$0.5k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145536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1A1A1A"/>
                </a:solidFill>
              </a:rPr>
              <a:t>Hosting / run, 3 yrs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34272" y="3145536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included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60152" y="3145536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~$6k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3566160"/>
            <a:ext cx="265176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1A1A1A"/>
                </a:solidFill>
              </a:rPr>
              <a:t>3-yr total — today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3566160"/>
            <a:ext cx="1325880" cy="420624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A1A1A"/>
                </a:solidFill>
              </a:rPr>
              <a:t>$1k – 19k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60152" y="3566160"/>
            <a:ext cx="132588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$26k – 41k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3986784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1A1A1A"/>
                </a:solidFill>
              </a:rPr>
              <a:t>3-yr total — 10× volume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34272" y="3986784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A1A1A"/>
                </a:solidFill>
              </a:rPr>
              <a:t>$12k – 186k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60152" y="3986784"/>
            <a:ext cx="1325880" cy="420624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A1A1A"/>
                </a:solidFill>
              </a:rPr>
              <a:t>$28k – 44k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526280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>
                <a:solidFill>
                  <a:srgbClr val="5A6472"/>
                </a:solidFill>
              </a:rPr>
              <a:t>Green marks the cheaper option in each row. Engineering estimated at one fully-loaded engineer for 6–8 weeks.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919472"/>
            <a:ext cx="11183112" cy="1371600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4919472"/>
            <a:ext cx="54864" cy="1371600"/>
          </a:xfrm>
          <a:prstGeom prst="rect">
            <a:avLst/>
          </a:prstGeom>
          <a:solidFill>
            <a:srgbClr val="9A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047488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1">
                <a:solidFill>
                  <a:srgbClr val="9A6600"/>
                </a:solidFill>
              </a:rPr>
              <a:t>Stated plainly: at today's volume, building our own model is the more expensive option.</a:t>
            </a:r>
          </a:p>
          <a:p>
            <a:pPr algn="l"/>
            <a:r>
              <a:rPr sz="1150" b="0">
                <a:solidFill>
                  <a:srgbClr val="1A1A1A"/>
                </a:solidFill>
              </a:rPr>
              <a:t>Break-even sits at roughly $10–12k / year of API spend — about ten times our current volume, or any scenario using full</a:t>
            </a:r>
          </a:p>
          <a:p>
            <a:pPr algn="l"/>
            <a:r>
              <a:rPr sz="1150" b="0">
                <a:solidFill>
                  <a:srgbClr val="1A1A1A"/>
                </a:solidFill>
              </a:rPr>
              <a:t>thread context with self-consistency checks. Below that line, the API is cheaper and we should not pretend otherwise.</a:t>
            </a:r>
          </a:p>
          <a:p>
            <a:pPr algn="l"/>
            <a:r>
              <a:rPr sz="1150" b="1">
                <a:solidFill>
                  <a:srgbClr val="0B2447"/>
                </a:solidFill>
              </a:rPr>
              <a:t>We are recommending the build for control, auditability and data residency — not to save money in year one.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40135" y="647395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1000" b="0">
                <a:solidFill>
                  <a:srgbClr val="5A6472"/>
                </a:solidFill>
              </a:rPr>
              <a:t>5 /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82880"/>
            <a:ext cx="8778240" cy="457200"/>
          </a:xfrm>
        </p:spPr>
        <p:txBody>
          <a:bodyPr wrap="square" anchor="ctr" lIns="0" rIns="0" tIns="27432" bIns="27432"/>
          <a:lstStyle/>
          <a:p>
            <a:pPr algn="l"/>
            <a:r>
              <a:rPr sz="2500" b="1">
                <a:solidFill>
                  <a:srgbClr val="FFFFFF"/>
                </a:solidFill>
              </a:rPr>
              <a:t>What it actually costs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00" b="0">
                <a:solidFill>
                  <a:srgbClr val="A5D7E8"/>
                </a:solidFill>
              </a:rPr>
              <a:t>EVIDENCE — WORKING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</a:rPr>
              <a:t>Not a proposal on paper. An end-to-end pipeline was built and run on 4,499 real emails.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219456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2194560" cy="54864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2600" b="1">
                <a:solidFill>
                  <a:srgbClr val="0B2447"/>
                </a:solidFill>
              </a:rPr>
              <a:t>4,499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95728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</a:rPr>
              <a:t>emails extracted</a:t>
            </a:r>
          </a:p>
          <a:p>
            <a:pPr algn="ctr"/>
            <a:r>
              <a:rPr sz="1000" b="0">
                <a:solidFill>
                  <a:srgbClr val="5A6472"/>
                </a:solidFill>
              </a:rPr>
              <a:t>and cleaned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52928" y="1645920"/>
            <a:ext cx="219456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52928" y="1645920"/>
            <a:ext cx="2194560" cy="54864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1828800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2600" b="1">
                <a:solidFill>
                  <a:srgbClr val="0B2447"/>
                </a:solidFill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395728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</a:rPr>
              <a:t>intents discovered</a:t>
            </a:r>
          </a:p>
          <a:p>
            <a:pPr algn="ctr"/>
            <a:r>
              <a:rPr sz="1000" b="0">
                <a:solidFill>
                  <a:srgbClr val="5A6472"/>
                </a:solidFill>
              </a:rPr>
              <a:t>and validated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02936" y="1645920"/>
            <a:ext cx="219456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02936" y="1645920"/>
            <a:ext cx="2194560" cy="54864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1828800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2600" b="1">
                <a:solidFill>
                  <a:srgbClr val="0B2447"/>
                </a:solidFill>
              </a:rPr>
              <a:t>89.1%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395728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</a:rPr>
              <a:t>accuracy on held-out</a:t>
            </a:r>
          </a:p>
          <a:p>
            <a:pPr algn="ctr"/>
            <a:r>
              <a:rPr sz="1000" b="0">
                <a:solidFill>
                  <a:srgbClr val="5A6472"/>
                </a:solidFill>
              </a:rPr>
              <a:t>test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52944" y="1645920"/>
            <a:ext cx="219456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52944" y="1645920"/>
            <a:ext cx="2194560" cy="54864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3" y="1828800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2600" b="1">
                <a:solidFill>
                  <a:srgbClr val="0B2447"/>
                </a:solidFill>
              </a:rPr>
              <a:t>84.3%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3" y="2395728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</a:rPr>
              <a:t>macro-F1 across</a:t>
            </a:r>
          </a:p>
          <a:p>
            <a:pPr algn="ctr"/>
            <a:r>
              <a:rPr sz="1000" b="0">
                <a:solidFill>
                  <a:srgbClr val="5A6472"/>
                </a:solidFill>
              </a:rPr>
              <a:t>all 15 classes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2952" y="1645920"/>
            <a:ext cx="178308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02952" y="1645920"/>
            <a:ext cx="1783080" cy="54864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4392" y="1828800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2600" b="1">
                <a:solidFill>
                  <a:srgbClr val="0B2447"/>
                </a:solidFill>
              </a:rPr>
              <a:t>~1 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392" y="2395728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</a:rPr>
              <a:t>from raw mailbox</a:t>
            </a:r>
          </a:p>
          <a:p>
            <a:pPr algn="ctr"/>
            <a:r>
              <a:rPr sz="1000" b="0">
                <a:solidFill>
                  <a:srgbClr val="5A6472"/>
                </a:solidFill>
              </a:rPr>
              <a:t>to trained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21868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1">
                <a:solidFill>
                  <a:srgbClr val="0B2447"/>
                </a:solidFill>
              </a:rPr>
              <a:t>How it was done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547872"/>
            <a:ext cx="566928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9848" y="3547872"/>
            <a:ext cx="393192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1768" y="3547872"/>
            <a:ext cx="6684264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950208"/>
            <a:ext cx="5669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9848" y="3950208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Extract history from the mailbox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1768" y="3950208"/>
            <a:ext cx="66842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4,499 emails, cleaned of HTML, quotes and footers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352544"/>
            <a:ext cx="566928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9848" y="4352544"/>
            <a:ext cx="39319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Discover the intent taxonomy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1768" y="4352544"/>
            <a:ext cx="6684264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15 intents generated from the real corpus, not guessed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754880"/>
            <a:ext cx="5669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9848" y="475488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Label the corpus with an LLM (one-time)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1768" y="4754880"/>
            <a:ext cx="66842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100% labelled; only 5.4% needed human attention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157216"/>
            <a:ext cx="566928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9848" y="5157216"/>
            <a:ext cx="39319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Fine-tune our own model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1768" y="5157216"/>
            <a:ext cx="6684264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ModernBERT-base, on a single laptop GPU, in minutes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559552"/>
            <a:ext cx="5669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9848" y="5559552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Measure on held-out 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1768" y="5559552"/>
            <a:ext cx="66842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89.1% accuracy / 84.3% macro-F1 on unseen emails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035040"/>
            <a:ext cx="11183112" cy="502920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6035040"/>
            <a:ext cx="54864" cy="50292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611733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00" b="1">
                <a:solidFill>
                  <a:srgbClr val="1E7A46"/>
                </a:solidFill>
              </a:rPr>
              <a:t>The hardware was a laptop GPU. The procurement version needs better data and business review — not better technology.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40135" y="647395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1000" b="0">
                <a:solidFill>
                  <a:srgbClr val="5A6472"/>
                </a:solidFill>
              </a:rPr>
              <a:t>6 /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82880"/>
            <a:ext cx="8778240" cy="457200"/>
          </a:xfrm>
        </p:spPr>
        <p:txBody>
          <a:bodyPr wrap="square" anchor="ctr" lIns="0" rIns="0" tIns="27432" bIns="27432"/>
          <a:lstStyle/>
          <a:p>
            <a:pPr algn="l"/>
            <a:r>
              <a:rPr sz="2500" b="1">
                <a:solidFill>
                  <a:srgbClr val="FFFFFF"/>
                </a:solidFill>
              </a:rPr>
              <a:t>We have already proven it 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00" b="0">
                <a:solidFill>
                  <a:srgbClr val="A5D7E8"/>
                </a:solidFill>
              </a:rPr>
              <a:t>RECOMMENDED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</a:rPr>
              <a:t>This is not build-or-buy. We buy the LLM once for what it is best at, then own the asset it produces.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83112" cy="1737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38528"/>
            <a:ext cx="2331720" cy="1234440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38528"/>
            <a:ext cx="2331720" cy="50292"/>
          </a:xfrm>
          <a:prstGeom prst="rect">
            <a:avLst/>
          </a:prstGeom>
          <a:solidFill>
            <a:srgbClr val="9A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21408"/>
            <a:ext cx="2112263" cy="3200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400" b="1">
                <a:solidFill>
                  <a:srgbClr val="9A6600"/>
                </a:solidFill>
              </a:rPr>
              <a:t>Paid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87168"/>
            <a:ext cx="2112263" cy="640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Labels our corpus</a:t>
            </a:r>
          </a:p>
          <a:p>
            <a:pPr algn="ctr"/>
            <a:r>
              <a:rPr sz="1000" b="0">
                <a:solidFill>
                  <a:srgbClr val="1A1A1A"/>
                </a:solidFill>
              </a:rPr>
              <a:t>ONE TIME  ·  ~$500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1938528"/>
            <a:ext cx="2331720" cy="123444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1938528"/>
            <a:ext cx="2331720" cy="50292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3048" y="2121408"/>
            <a:ext cx="2112263" cy="3200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400" b="1">
                <a:solidFill>
                  <a:srgbClr val="19376D"/>
                </a:solidFill>
              </a:rPr>
              <a:t>Labelled corpus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2487168"/>
            <a:ext cx="2112263" cy="640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Our data, our intents</a:t>
            </a:r>
          </a:p>
          <a:p>
            <a:pPr algn="ctr"/>
            <a:r>
              <a:rPr sz="1000" b="0">
                <a:solidFill>
                  <a:srgbClr val="1A1A1A"/>
                </a:solidFill>
              </a:rPr>
              <a:t>Owned by 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938528"/>
            <a:ext cx="2331720" cy="1234440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1938528"/>
            <a:ext cx="2331720" cy="50292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121408"/>
            <a:ext cx="2112263" cy="3200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400" b="1">
                <a:solidFill>
                  <a:srgbClr val="1E7A46"/>
                </a:solidFill>
              </a:rPr>
              <a:t>Our own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2487168"/>
            <a:ext cx="2112263" cy="640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Fine-tuned ModernBERT</a:t>
            </a:r>
          </a:p>
          <a:p>
            <a:pPr algn="ctr"/>
            <a:r>
              <a:rPr sz="1000" b="0">
                <a:solidFill>
                  <a:srgbClr val="1A1A1A"/>
                </a:solidFill>
              </a:rPr>
              <a:t>Trained on our corpus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1938528"/>
            <a:ext cx="1874519" cy="1234440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55480" y="1938528"/>
            <a:ext cx="1874519" cy="50292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5207" y="2121408"/>
            <a:ext cx="1655063" cy="3200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400" b="1">
                <a:solidFill>
                  <a:srgbClr val="1E7A46"/>
                </a:solidFill>
              </a:rP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5207" y="2487168"/>
            <a:ext cx="1655063" cy="640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Classifies every email</a:t>
            </a:r>
          </a:p>
          <a:p>
            <a:pPr algn="ctr"/>
            <a:r>
              <a:rPr sz="1000" b="0">
                <a:solidFill>
                  <a:srgbClr val="1A1A1A"/>
                </a:solidFill>
              </a:rPr>
              <a:t>~$0 per 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235915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2000" b="1">
                <a:solidFill>
                  <a:srgbClr val="576CBC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235915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2000" b="1">
                <a:solidFill>
                  <a:srgbClr val="576CBC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235915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2000" b="1">
                <a:solidFill>
                  <a:srgbClr val="576CBC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6576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1">
                <a:solidFill>
                  <a:srgbClr val="0B2447"/>
                </a:solidFill>
              </a:rPr>
              <a:t>Why this is the strongest position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005072"/>
            <a:ext cx="3611880" cy="1371600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005072"/>
            <a:ext cx="54864" cy="137160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4114800"/>
            <a:ext cx="3264408" cy="11521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1">
                <a:solidFill>
                  <a:srgbClr val="0B2447"/>
                </a:solidFill>
              </a:rPr>
              <a:t>We get the speed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The LLM does the slow part —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labelling — in days, not months.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4005072"/>
            <a:ext cx="3611880" cy="1371600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4005072"/>
            <a:ext cx="54864" cy="137160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7136" y="4114800"/>
            <a:ext cx="3264408" cy="11521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1">
                <a:solidFill>
                  <a:srgbClr val="0B2447"/>
                </a:solidFill>
              </a:rPr>
              <a:t>We keep the asset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The labelled corpus and the model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are ours permanently.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9016" y="4005072"/>
            <a:ext cx="3557016" cy="1371600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9016" y="4005072"/>
            <a:ext cx="54864" cy="137160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4114800"/>
            <a:ext cx="3209544" cy="11521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1">
                <a:solidFill>
                  <a:srgbClr val="0B2447"/>
                </a:solidFill>
              </a:rPr>
              <a:t>We stop paying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The teacher is paid once.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The runtime costs us nothing.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577840"/>
            <a:ext cx="11183112" cy="804672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69671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Renting an LLM per email means paying forever for a capability we never own, while our most sensitive data leaves the network on every call.</a:t>
            </a:r>
          </a:p>
          <a:p>
            <a:pPr algn="l"/>
            <a:r>
              <a:rPr sz="1200" b="1">
                <a:solidFill>
                  <a:srgbClr val="A5D7E8"/>
                </a:solidFill>
              </a:rPr>
              <a:t>Paying once to train our own model turns that same spend into an asset on our balance sheet.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40135" y="647395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1000" b="0">
                <a:solidFill>
                  <a:srgbClr val="5A6472"/>
                </a:solidFill>
              </a:rPr>
              <a:t>7 /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82880"/>
            <a:ext cx="8778240" cy="457200"/>
          </a:xfrm>
        </p:spPr>
        <p:txBody>
          <a:bodyPr wrap="square" anchor="ctr" lIns="0" rIns="0" tIns="27432" bIns="27432"/>
          <a:lstStyle/>
          <a:p>
            <a:pPr algn="l"/>
            <a:r>
              <a:rPr sz="2500" b="1">
                <a:solidFill>
                  <a:srgbClr val="FFFFFF"/>
                </a:solidFill>
              </a:rPr>
              <a:t>The winning move: use both, in the right roles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00" b="0">
                <a:solidFill>
                  <a:srgbClr val="A5D7E8"/>
                </a:solidFill>
              </a:rPr>
              <a:t>RISKS — STATED UP FRONT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</a:rPr>
              <a:t>These are real. All are manageable, and all are cheaper to address than an unbounded API dependency.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20040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691640"/>
            <a:ext cx="420624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59" y="1691640"/>
            <a:ext cx="3776472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How we handle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93976"/>
            <a:ext cx="32004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Needs labelled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2093976"/>
            <a:ext cx="42062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A model is only as good as its examples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59" y="2093976"/>
            <a:ext cx="3776472" cy="484632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LLM labels the bulk; people check the uncertain 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78608"/>
            <a:ext cx="320040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Labels may be noisy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578608"/>
            <a:ext cx="420624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Bad labels quietly cap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59" y="2578608"/>
            <a:ext cx="3776472" cy="484632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600-email human gold set measures the truth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63240"/>
            <a:ext cx="32004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Taxonomy may not be learnable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3063240"/>
            <a:ext cx="42062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Business categories can overlap in 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59" y="3063240"/>
            <a:ext cx="3776472" cy="484632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Validated against real mail before we spend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47872"/>
            <a:ext cx="320040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Language drifts over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3547872"/>
            <a:ext cx="420624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New suppliers, new systems, new wording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59" y="3547872"/>
            <a:ext cx="3776472" cy="484632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Weekly retraining, with a quality gate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032504"/>
            <a:ext cx="32004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ML skills needed in-house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4032504"/>
            <a:ext cx="42062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We must be able to maintain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59" y="4032504"/>
            <a:ext cx="3776472" cy="484632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Standard open tooling; pipeline already built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17136"/>
            <a:ext cx="320040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Multi-topic emails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4517136"/>
            <a:ext cx="420624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One email can carry two requests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59" y="4517136"/>
            <a:ext cx="3776472" cy="484632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Detected and escalated to a person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29200"/>
            <a:ext cx="5532120" cy="1325880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029200"/>
            <a:ext cx="54864" cy="13258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6636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1">
                <a:solidFill>
                  <a:srgbClr val="B3261E"/>
                </a:solidFill>
              </a:rPr>
              <a:t>The risk of doing nothing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Triage stays people-limited. Volume grows,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headcount has to grow with it, and nothing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downstream can be automated.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2512" y="5029200"/>
            <a:ext cx="5303520" cy="1325880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82512" y="5029200"/>
            <a:ext cx="54864" cy="1325880"/>
          </a:xfrm>
          <a:prstGeom prst="rect">
            <a:avLst/>
          </a:prstGeom>
          <a:solidFill>
            <a:srgbClr val="9A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1112" y="5166360"/>
            <a:ext cx="4892040" cy="10972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1">
                <a:solidFill>
                  <a:srgbClr val="9A6600"/>
                </a:solidFill>
              </a:rPr>
              <a:t>The risk of renting instead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Sensitive supplier data leaves our network on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every call. Costs rise with every new inbox.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We own nothing at the end of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40135" y="647395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1000" b="0">
                <a:solidFill>
                  <a:srgbClr val="5A6472"/>
                </a:solidFill>
              </a:rPr>
              <a:t>8 /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82880"/>
            <a:ext cx="8778240" cy="457200"/>
          </a:xfrm>
        </p:spPr>
        <p:txBody>
          <a:bodyPr wrap="square" anchor="ctr" lIns="0" rIns="0" tIns="27432" bIns="27432"/>
          <a:lstStyle/>
          <a:p>
            <a:pPr algn="l"/>
            <a:r>
              <a:rPr sz="2500" b="1">
                <a:solidFill>
                  <a:srgbClr val="FFFFFF"/>
                </a:solidFill>
              </a:rPr>
              <a:t>What could go wrong, and how we handle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00" b="0">
                <a:solidFill>
                  <a:srgbClr val="A5D7E8"/>
                </a:solidFill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</a:rPr>
              <a:t>One decision today; the rest is already specified and partly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83112" cy="86868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Approve building our own email intent model, with a paid LLM used once as a teacher.</a:t>
            </a:r>
          </a:p>
          <a:p>
            <a:pPr algn="l"/>
            <a:r>
              <a:rPr sz="1150" b="0">
                <a:solidFill>
                  <a:srgbClr val="A5D7E8"/>
                </a:solidFill>
              </a:rPr>
              <a:t>Not approving means committing to a permanent per-email fee and sending supplier data outside our 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1">
                <a:solidFill>
                  <a:srgbClr val="0B2447"/>
                </a:solidFill>
              </a:rPr>
              <a:t>What we need from the business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72384"/>
            <a:ext cx="310896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3072384"/>
            <a:ext cx="228600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Effort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7472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Agreed list of intents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3474720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Workshop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95344"/>
            <a:ext cx="310896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~100 example emails per intent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3895344"/>
            <a:ext cx="228600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Collection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15968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Review of uncertain labels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4315968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~30 hours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36592"/>
            <a:ext cx="310896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Access to shared inboxes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4736592"/>
            <a:ext cx="228600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IT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432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00" b="1">
                <a:solidFill>
                  <a:srgbClr val="0B2447"/>
                </a:solidFill>
              </a:rPr>
              <a:t>What we deliver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72384"/>
            <a:ext cx="3108960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>
                <a:solidFill>
                  <a:srgbClr val="FFFFFF"/>
                </a:solidFill>
              </a:rPr>
              <a:t>Deliverable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3072384"/>
            <a:ext cx="2267712" cy="402336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47472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Validated intent taxonomy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3474720"/>
            <a:ext cx="2267712" cy="420624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Week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895344"/>
            <a:ext cx="310896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Labelled corpus (ours to keep)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3895344"/>
            <a:ext cx="2267712" cy="420624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Week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315968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Trained, measured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4315968"/>
            <a:ext cx="2267712" cy="420624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Week 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736592"/>
            <a:ext cx="310896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1A1A1A"/>
                </a:solidFill>
              </a:rPr>
              <a:t>Benchmark report vs. LLM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4736592"/>
            <a:ext cx="2267712" cy="420624"/>
          </a:xfrm>
          <a:prstGeom prst="rect">
            <a:avLst/>
          </a:prstGeom>
          <a:solidFill>
            <a:srgbClr val="E3F3E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A1A1A"/>
                </a:solidFill>
              </a:rPr>
              <a:t>Week 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349240"/>
            <a:ext cx="11183112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349240"/>
            <a:ext cx="54864" cy="100584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68112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At the end of eight weeks we will own a measured, auditable classification model that runs inside our network at effectively zero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cost per email — and a benchmark showing exactly how it compares to the paid alternative. If it loses, we will say so.</a:t>
            </a:r>
          </a:p>
          <a:p>
            <a:pPr algn="l"/>
            <a:r>
              <a:rPr sz="1100" b="1">
                <a:solidFill>
                  <a:srgbClr val="0B2447"/>
                </a:solidFill>
              </a:rPr>
              <a:t>Detailed technical specification is already written and ready for review.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40135" y="647395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1000" b="0">
                <a:solidFill>
                  <a:srgbClr val="5A6472"/>
                </a:solidFill>
              </a:rPr>
              <a:t>9 /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82880"/>
            <a:ext cx="8778240" cy="457200"/>
          </a:xfrm>
        </p:spPr>
        <p:txBody>
          <a:bodyPr wrap="square" anchor="ctr" lIns="0" rIns="0" tIns="27432" bIns="27432"/>
          <a:lstStyle/>
          <a:p>
            <a:pPr algn="l"/>
            <a:r>
              <a:rPr sz="2500" b="1">
                <a:solidFill>
                  <a:srgbClr val="FFFFFF"/>
                </a:solidFill>
              </a:rPr>
              <a:t>The decision, and what we need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